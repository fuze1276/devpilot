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926080" cy="36576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ESTÁNDAR IEEE 830-1998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DevPilot: Etapa de Build</a:t>
            </a:r>
          </a:p>
          <a:p>
            <a:pPr>
              <a:defRPr sz="1800" i="1">
                <a:solidFill>
                  <a:srgbClr val="94A3B8"/>
                </a:solidFill>
              </a:defRPr>
            </a:pPr>
            <a:r>
              <a:t>Plataforma SRE Autónoma para Monitoreo, Pruebas de Caos y Auto-Remediación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7772400" cy="22860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FICHA TÉCNICA DEL PROYECTO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• Autores (Líder Técnico &amp; QA): </a:t>
            </a:r>
            <a:r>
              <a:rPr b="0">
                <a:solidFill>
                  <a:srgbClr val="94A3B8"/>
                </a:solidFill>
              </a:rPr>
              <a:t>Sebastián Andrés López García &amp; María José Duarte Ospina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• Docente Revisor: </a:t>
            </a:r>
            <a:r>
              <a:rPr b="0">
                <a:solidFill>
                  <a:srgbClr val="94A3B8"/>
                </a:solidFill>
              </a:rPr>
              <a:t>Ing. Carlos Alfonso Pineda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• Área de Conocimiento: </a:t>
            </a:r>
            <a:r>
              <a:rPr b="0">
                <a:solidFill>
                  <a:srgbClr val="94A3B8"/>
                </a:solidFill>
              </a:rPr>
              <a:t>Ingeniería de Software / DevOps / Site Reliability Engineering (SRE)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• Año / Periodo Académico: </a:t>
            </a:r>
            <a:r>
              <a:rPr b="0">
                <a:solidFill>
                  <a:srgbClr val="94A3B8"/>
                </a:solidFill>
              </a:rPr>
              <a:t>2026 | Arquitectura de Microservicios Distribuidos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ARQUITECTURA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Definición y Propósito del Build en Microservicios Políglotas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¿Qué significa "Build" en una Arquitectura de Microservicios?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En un sistema monolítico tradicional, el build consiste típicamente en compilar un único ejecutable binario. En una arquitectura distribuida y políglota como DevPilot (que combina Python con FastAPI, Node.js con Express y un frontend JavaScript modular bajo el patrón MVVM), ese enfoque resulta insuficiente ya que cada tecnología cuenta con su propio runtime, sintaxis y árbol de dependencias.</a:t>
            </a:r>
            <a:br/>
            <a:br/>
            <a:r>
              <a:t>Por esta razón, el build se estructura como un proceso holístico y automatizado que reúne cuatro actividades críticas: el análisis sintáctico estático (AST), la verificación de contratos de comunicación, el aislamiento estricto de contextos Docker y la ejecución de suites de pruebas automáticas.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🎯 Objetivo Central de la Etapa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Garantizar la reproducibilidad matemática del sistema: certificar que el mismo código fuente genere exactamente el mismo comportamiento en cualquier servidor o máquina de desarrollo. Asimismo, validar que ningún cambio reciente haya roto los contratos REST ni la compatibilidad criptográfica entre servicios.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❓ Justificación Técnica (Costo de Defectos)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Un fallo sintáctico o un endpoint que no responde según su contrato puede colapsar todo el clúster de microservicios. Detectar estos defectos en la etapa de build cuesta órdenes de magnitud menos tiempo y dinero que solucionarlos en producción con los contenedores ya desplegados y atendiendo usuarios finales.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CICLO DE VIDA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Arquitectura del Pipeline y Principio Fail-Fast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7171"/>
                </a:solidFill>
              </a:defRPr>
            </a:pPr>
            <a:r>
              <a:t>⚡ Principio Fail-Fast (Detección y Fallo Temprano)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Cualquier error gramatical, alteración en una firma criptográfica JWT o violación de esquema HTTP interrumpe inmediatamente el proceso en milisegundos. De este modo, se evita el desperdicio innecesario de almacenamiento y tiempo de CPU en empaquetar imágenes Docker rotas, proporcionando al desarrollador una retroalimentación precisa sobre el origen del fallo.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2606040" cy="2926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FASE 1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Inspección y Linting AST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Análisis del Árbol de Sintaxis Abstracta de Python y Node.js en memoria sin levantar servidores.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3291840"/>
            <a:ext cx="2606040" cy="2926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FASE 2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Auditoría Docker Context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Verificación estricta de .dockerignore para excluir cachés, node_modules y credenciales .env.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291840"/>
            <a:ext cx="2606040" cy="2926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FASE 3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Pruebas de Caja Blanca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Validación exhaustiva de JWT HMAC-SHA256, 2FA TOTP RFC 6238, SQLite ACID y contratos REST.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291840"/>
            <a:ext cx="2606040" cy="2926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FASE 4</a:t>
            </a:r>
          </a:p>
          <a:p>
            <a:pPr>
              <a:defRPr sz="1300" b="1">
                <a:solidFill>
                  <a:srgbClr val="F1F5F9"/>
                </a:solidFill>
              </a:defRPr>
            </a:pPr>
            <a:r>
              <a:t>Validación IaC Compose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Comprobación determinista de topología de red, puertos y volúmenes mediante Docker Compose.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TOOLCHAIN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Matriz Exhaustiva de Herramientas Utilizadas en el Build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6492240"/>
              </a:tblGrid>
              <a:tr h="58293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Herramienta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Función en DevPilot y Justificación Técnica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1F5F9"/>
                          </a:solidFill>
                        </a:defRPr>
                      </a:pPr>
                      <a:r>
                        <a:t>Python AST compile()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6B6D4"/>
                          </a:solidFill>
                        </a:defRPr>
                      </a:pPr>
                      <a:r>
                        <a:t>Análisis Estático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Compila el Árbol de Sintaxis Abstracta de los 4 servicios Python en memoria sin latencia de arranque.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1F5F9"/>
                          </a:solidFill>
                        </a:defRPr>
                      </a:pPr>
                      <a:r>
                        <a:t>Node.js Engine (node --check)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6B6D4"/>
                          </a:solidFill>
                        </a:defRPr>
                      </a:pPr>
                      <a:r>
                        <a:t>Syntax Linter V8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Inspecciona el microservicio Users y los 15 módulos del frontend MVVM garantizando ECMAScript válido.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1F5F9"/>
                          </a:solidFill>
                        </a:defRPr>
                      </a:pPr>
                      <a:r>
                        <a:t>Pytest (pytest)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6B6D4"/>
                          </a:solidFill>
                        </a:defRPr>
                      </a:pPr>
                      <a:r>
                        <a:t>Pruebas Unitarias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Ejecuta pruebas criptográficas (JWT, TOTP RFC 6238), persistencia SQLite ACID y contratos con TestClient.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1F5F9"/>
                          </a:solidFill>
                        </a:defRPr>
                      </a:pPr>
                      <a:r>
                        <a:t>Node:Test &amp; Node:Assert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6B6D4"/>
                          </a:solidFill>
                        </a:defRPr>
                      </a:pPr>
                      <a:r>
                        <a:t>Suite Nativa Node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Marco de pruebas nativo que evalúa endpoints y fallos de caos en Users sin sobrecargar dependencias.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1F5F9"/>
                          </a:solidFill>
                        </a:defRPr>
                      </a:pPr>
                      <a:r>
                        <a:t>Docker Compose CLI (config)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6B6D4"/>
                          </a:solidFill>
                        </a:defRPr>
                      </a:pPr>
                      <a:r>
                        <a:t>Validación de IaC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Verifica formalmente la topología de red devpilot_net, puertos asignados y mapeo de volúmenes persistentes.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1F5F9"/>
                          </a:solidFill>
                        </a:defRPr>
                      </a:pPr>
                      <a:r>
                        <a:t>Reglas .dockerignore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6B6D4"/>
                          </a:solidFill>
                        </a:defRPr>
                      </a:pPr>
                      <a:r>
                        <a:t>Optimización Build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Listas de exclusión que blindan imágenes excluyendo node_modules, cachés y archivos de variables de entorno.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1F5F9"/>
                          </a:solidFill>
                        </a:defRPr>
                      </a:pPr>
                      <a:r>
                        <a:t>PowerShell &amp; Bash Scripts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6B6D4"/>
                          </a:solidFill>
                        </a:defRPr>
                      </a:pPr>
                      <a:r>
                        <a:t>Orquestación Local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verify-build.ps1 y .sh unifican los 35 controles automatizados con código de salida determinista (0 o 1).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QUALITY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Desglose Conceptual de los 35 Controles Automatizados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57800" cy="14630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🧩 24 Verificaciones Sintácticas y MVVM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Garantizan que tanto los servicios backend como las capas desacopladas del cliente (Modelos, Vistas y Controladores) no posean referencias nulas, errores de importación ni errores de tipeo.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57800" cy="14630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🐳 6 Auditorías de Aislamiento Docker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Certifican que la raíz del repositorio y cada uno de los 5 microservicios contengan directivas .dockerignore activas para producir imágenes de producción ultra-ligeras y seguras.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5257800" cy="14630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🔐 Suite de Seguridad y Criptografía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Valida la firma HMAC-SHA256 de tokens JWT, detección de manipulación de payloads (tampering), expiración temporal de tokens y códigos de segundo factor TOTP (RFC 6238) para Human-in-the-Loop.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154680"/>
            <a:ext cx="5257800" cy="14630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🗄️ Persistencia SQLite ACID y Auditoría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Verifica en entorno aislado que la base de datos inicialice todas sus tablas relacionales, respete restricciones de integridad foránea y registre bitácoras forenses de remediación.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698480" cy="14630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🔗 Contratos HTTP de Microservicios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Pruebas de caja blanca sobre endpoints de salud (/health), endpoints transaccionales y middleware de inyección de caos (latencia RTT, tasas de error 500 y reinicios de contenedores).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RESPALDO TÉCNICO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Evidencia de Ejecución: Consola PowerShell (verify-build.ps1)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937760"/>
          </a:xfrm>
          <a:prstGeom prst="roundRect">
            <a:avLst/>
          </a:prstGeom>
          <a:solidFill>
            <a:srgbClr val="0A0E1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10B981"/>
                </a:solidFill>
                <a:latin typeface="Consolas"/>
              </a:defRPr>
            </a:pPr>
            <a:r>
              <a:t>PS C:\devpilot&gt; .\verify-build.ps1</a:t>
            </a:r>
            <a:br/>
            <a:r>
              <a:t>===========================================================================</a:t>
            </a:r>
            <a:br/>
            <a:r>
              <a:t>  &gt;&gt; DEVPILOT SRE ENGINE - VALIDACIÓN DE LA ETAPA DE BUILD</a:t>
            </a:r>
            <a:br/>
            <a:r>
              <a:t>===========================================================================</a:t>
            </a:r>
            <a:br/>
            <a:r>
              <a:t>Iniciando análisis integral de compilación, sintaxis, pruebas unitarias y contenedores...</a:t>
            </a:r>
            <a:br/>
            <a:r>
              <a:t>Timestamp: 2026-10-14 09:52:33</a:t>
            </a:r>
            <a:br/>
            <a:br/>
            <a:r>
              <a:t>  1. ANÁLISIS ESTÁTICO Y COMPILACIÓN SINTÁCTICA (LINTING)</a:t>
            </a:r>
            <a:br/>
            <a:r>
              <a:t>  [PASS] Python AST : devpilot_core\main.py compilado sin errores</a:t>
            </a:r>
            <a:br/>
            <a:r>
              <a:t>  [PASS] Python AST : devpilot_core\database.py compilado sin errores</a:t>
            </a:r>
            <a:br/>
            <a:r>
              <a:t>  [PASS] Python AST : devpilot_core\auth.py compilado sin errores</a:t>
            </a:r>
            <a:br/>
            <a:r>
              <a:t>  [PASS] Python AST : devpilot_core\monitor.py compilado sin errores</a:t>
            </a:r>
            <a:br/>
            <a:r>
              <a:t>  [PASS] Python AST : devpilot_core\docker_manager.py compilado sin errores</a:t>
            </a:r>
            <a:br/>
            <a:r>
              <a:t>  [PASS] Python AST : devpilot_core\ai_agent.py compilado sin errores</a:t>
            </a:r>
            <a:br/>
            <a:r>
              <a:t>  [PASS] Python AST : microservices\products\main.py compilado sin errores</a:t>
            </a:r>
            <a:br/>
            <a:r>
              <a:t>  [PASS] Python AST : microservices\orders\main.py compilado sin errores</a:t>
            </a:r>
            <a:br/>
            <a:r>
              <a:t>  [PASS] Python AST : microservices\payments\main.py compilado sin errores</a:t>
            </a:r>
            <a:br/>
            <a:r>
              <a:t>  [PASS] Node.js AST : microservices\users\server.js sintaxis válida (Express v4)</a:t>
            </a:r>
            <a:br/>
            <a:r>
              <a:t>  [PASS] MVVM Modules : 13 módulos frontend en models/, controllers/ y views/ verificados</a:t>
            </a:r>
            <a:br/>
            <a:br/>
            <a:r>
              <a:t>  2. AUDITORÍA DE DEPENDENCIAS Y CONTEXTO DOCKER</a:t>
            </a:r>
            <a:br/>
            <a:r>
              <a:t>  [PASS] Docker Context : Archivo .dockerignore presente y activo (Root + 5 Servicios)</a:t>
            </a:r>
            <a:br/>
            <a:br/>
            <a:r>
              <a:t>  3. EJECUCIÓN DE PRUEBAS AUTOMATIZADAS (SUITE DE BUILD)</a:t>
            </a:r>
            <a:br/>
            <a:r>
              <a:t>  [PASS] Test Auth y RBAC : Generación JWT HMAC-SHA256, TOTP RFC 6238 y roles validados</a:t>
            </a:r>
            <a:br/>
            <a:r>
              <a:t>  [PASS] Test SQLite ACID : Inicialización de esquemas, CRUD y bitácora de auditoría forense</a:t>
            </a:r>
            <a:br/>
            <a:r>
              <a:t>  [PASS] Test Contratos : Endpoints /health, /fault/delay y negocio de microservicios</a:t>
            </a:r>
            <a:br/>
            <a:r>
              <a:t>  [PASS] Test Users Service : 5 pruebas completadas: Health, Users list, Fault Injection y Reset</a:t>
            </a:r>
            <a:br/>
            <a:br/>
            <a:r>
              <a:t>  4. VALIDACIÓN DE INFRAESTRUCTURA COMO CÓDIGO (DOCKER COMPOSE)</a:t>
            </a:r>
            <a:br/>
            <a:r>
              <a:t>  [PASS] Docker Compose : Topología de 5 servicios, red devpilot_net y volumen validados con 0 errores</a:t>
            </a:r>
            <a:br/>
            <a:br/>
            <a:r>
              <a:t>===========================================================================</a:t>
            </a:r>
            <a:br/>
            <a:r>
              <a:t>  &gt;&gt; RESUMEN FINAL: 35 Pruebas Ejecutadas | 35 Aprobadas | 0 Fallos Detectados</a:t>
            </a:r>
            <a:br/>
            <a:r>
              <a:t>  ESTADO: [OK] BUILD EXITOSO (El proyecto cumple con el Quality Gate)</a:t>
            </a:r>
            <a:br/>
            <a:r>
              <a:t>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RESPALDO TÉCNICO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Evidencia Granular: Pytest Suite y Node:Test Runner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0A0E1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6B6D4"/>
                </a:solidFill>
                <a:latin typeface="Consolas"/>
              </a:defRPr>
            </a:pPr>
            <a:r>
              <a:t>PS C:\devpilot&gt; py -m pytest tests/ -v</a:t>
            </a:r>
            <a:br/>
            <a:r>
              <a:t>================== test session starts ==================</a:t>
            </a:r>
            <a:br/>
            <a:r>
              <a:t>platform win32 -- Python 3.14.3, pytest-9.1.1</a:t>
            </a:r>
            <a:br/>
            <a:r>
              <a:t>rootdir: C:\Users\fuze1\OneDrive\Documents\devpilot</a:t>
            </a:r>
            <a:br/>
            <a:r>
              <a:t>collected 12 items</a:t>
            </a:r>
            <a:br/>
            <a:br/>
            <a:r>
              <a:t>tests/test_auth_and_security.py::test_jwt_expiration PASSED             [  8%]</a:t>
            </a:r>
            <a:br/>
            <a:r>
              <a:t>tests/test_auth_and_security.py::test_jwt_gen_and_val PASSED           [ 16%]</a:t>
            </a:r>
            <a:br/>
            <a:r>
              <a:t>tests/test_auth_and_security.py::test_jwt_tampering PASSED             [ 25%]</a:t>
            </a:r>
            <a:br/>
            <a:r>
              <a:t>tests/test_auth_and_security.py::test_preset_users_auth PASSED         [ 33%]</a:t>
            </a:r>
            <a:br/>
            <a:r>
              <a:t>tests/test_auth_and_security.py::test_rbac_hierarchy PASSED            [ 41%]</a:t>
            </a:r>
            <a:br/>
            <a:r>
              <a:t>tests/test_auth_and_security.py::test_totp_rfc6238 PASSED              [ 50%]</a:t>
            </a:r>
            <a:br/>
            <a:r>
              <a:t>tests/test_database.py::test_audit_trail_logging PASSED                [ 58%]</a:t>
            </a:r>
            <a:br/>
            <a:r>
              <a:t>tests/test_database.py::test_service_lifecycle PASSED                  [ 66%]</a:t>
            </a:r>
            <a:br/>
            <a:r>
              <a:t>tests/test_database.py::test_schema_initialization PASSED              [ 75%]</a:t>
            </a:r>
            <a:br/>
            <a:r>
              <a:t>tests/test_microservices_contracts.py::test_orders PASSED             [ 83%]</a:t>
            </a:r>
            <a:br/>
            <a:r>
              <a:t>tests/test_microservices_contracts.py::test_payments PASSED           [ 91%]</a:t>
            </a:r>
            <a:br/>
            <a:r>
              <a:t>tests/test_microservices_contracts.py::test_products PASSED           [100%]</a:t>
            </a:r>
            <a:br/>
            <a:br/>
            <a:r>
              <a:t>=============== 12 passed in 0.65s ===============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0A0E1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10B981"/>
                </a:solidFill>
                <a:latin typeface="Consolas"/>
              </a:defRPr>
            </a:pPr>
            <a:r>
              <a:t>PS C:\devpilot\microservices\users&gt; npm test</a:t>
            </a:r>
            <a:br/>
            <a:r>
              <a:t>TAP version 13</a:t>
            </a:r>
            <a:br/>
            <a:r>
              <a:t># Subtest: Users Service - Test Suite de Build</a:t>
            </a:r>
            <a:br/>
            <a:r>
              <a:t>    # Subtest: GET /health - 200 OK y telemetría nominal</a:t>
            </a:r>
            <a:br/>
            <a:r>
              <a:t>    ok 1 - GET /health - Debe retornar 200 OK nominal</a:t>
            </a:r>
            <a:br/>
            <a:r>
              <a:t>    # Subtest: GET /users - Lista inicial de usuarios simulados</a:t>
            </a:r>
            <a:br/>
            <a:r>
              <a:t>    ok 2 - GET /users - Debe retornar lista de usuarios</a:t>
            </a:r>
            <a:br/>
            <a:r>
              <a:t>    # Subtest: POST /fault/delay - Inyección de latencia controlada</a:t>
            </a:r>
            <a:br/>
            <a:r>
              <a:t>    ok 3 - POST /fault/delay - Inyección de latencia</a:t>
            </a:r>
            <a:br/>
            <a:r>
              <a:t>    # Subtest: POST /fault/reset - Restaurar fallos a nominal</a:t>
            </a:r>
            <a:br/>
            <a:r>
              <a:t>    ok 4 - POST /fault/reset - Restaurar fallos a 0</a:t>
            </a:r>
            <a:br/>
            <a:r>
              <a:t>    # Subtest: GET /endpoint-inexistente - Manejo de 404</a:t>
            </a:r>
            <a:br/>
            <a:r>
              <a:t>    ok 5 - GET /endpoint-inexistente - Error 404</a:t>
            </a:r>
            <a:br/>
            <a:r>
              <a:t>1..5</a:t>
            </a:r>
            <a:br/>
            <a:r>
              <a:t># tests 5 | suites 1 | pass 5 | fail 0</a:t>
            </a:r>
            <a:br/>
            <a:r>
              <a:t># duration_ms: 419.25ms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ASEGURAMIENTO DE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Defectos Detectados, Mitigados y Conclusiones del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4688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🛠️ Base de Datos (database.py)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La suite automatizada descubrió que la tabla 'remediation_logs' no se creaba al inicio en SQLite. Se corrigió garantizando persistencia ACID y auditoría forense inmutable.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24688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📦 Modernización de Docker Compose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Se eliminó la directiva obsoleta 'version: 3.8' para alinear el clúster con la especificación moderna de Compose Specification sin advertencias en despliegue.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24688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🔒 Blindaje contra Fuga de Secretos</a:t>
            </a:r>
          </a:p>
          <a:p>
            <a:pPr>
              <a:defRPr sz="1150">
                <a:solidFill>
                  <a:srgbClr val="F1F5F9"/>
                </a:solidFill>
              </a:defRPr>
            </a:pPr>
            <a:r>
              <a:t>Se implementaron reglas .dockerignore en la raíz y microservicios, impidiendo que archivos .env, cachés __pycache__ y node_modules inflaran las imágenes finales.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698480" cy="192024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🎯 Conclusión General bajo el Estándar IEEE 830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La etapa de build implementada en DevPilot transforma la plataforma en un producto de software robusto, auditable, tolerante a fallos y formalmente verificado bajo los requerimientos del estándar IEEE 830.</a:t>
            </a:r>
            <a:br/>
            <a:br/>
            <a:r>
              <a:t>Las 35 verificaciones aprobadas y la detección temprana de anomalías demuestran que el build automatizado no es solo una formalidad de empaquetado, sino la barrera principal que garantiza la resiliencia y estabilidad del ecosistema de microservicios antes de llegar a un entorno de producción.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